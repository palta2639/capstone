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G7wBhnXFXU7A06nG6rWnmoMd7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7169C-F2D4-4352-83B9-65E577428861}">
  <a:tblStyle styleId="{4347169C-F2D4-4352-83B9-65E5774288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2.png"/><Relationship Id="rId13" Type="http://schemas.openxmlformats.org/officeDocument/2006/relationships/image" Target="../media/image27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20.png"/><Relationship Id="rId15" Type="http://schemas.openxmlformats.org/officeDocument/2006/relationships/image" Target="../media/image28.png"/><Relationship Id="rId14" Type="http://schemas.openxmlformats.org/officeDocument/2006/relationships/image" Target="../media/image15.png"/><Relationship Id="rId16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6612" y="4253358"/>
            <a:ext cx="54387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4362" y="2223641"/>
            <a:ext cx="33432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895600" y="2709416"/>
            <a:ext cx="6400800" cy="59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Proyecto Anglo Electric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095500" y="3443733"/>
            <a:ext cx="800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EF9C3"/>
                </a:solidFill>
                <a:latin typeface="Lato"/>
                <a:ea typeface="Lato"/>
                <a:cs typeface="Lato"/>
                <a:sym typeface="Lato"/>
              </a:rPr>
              <a:t>E-Commerce y Automatización con IA para Servicio Eléctrico Christopher Pastén E.I.R.L.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376612" y="4453383"/>
            <a:ext cx="1685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1 de Septiembre, 2026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253037" y="4453383"/>
            <a:ext cx="47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|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491162" y="4453383"/>
            <a:ext cx="3324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D. Valenzuela · K. Peña · F. Osorio · C. Figueroa</a:t>
            </a:r>
            <a:endParaRPr/>
          </a:p>
        </p:txBody>
      </p:sp>
      <p:pic>
        <p:nvPicPr>
          <p:cNvPr descr="image.png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6612" y="447243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1162" y="4472433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90962"/>
            <a:ext cx="53340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571500" y="2757487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Servicio Eléctrico Pastén E.I.R.L.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71500" y="31861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Empresa de Quilpué especializada en instalación y mantención de paneles solares fotovoltaicos en la Región de Valparaíso.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52475" y="4033837"/>
            <a:ext cx="5010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Brecha Detectada: 68% Ineficiencia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52475" y="4310062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Atención manual lenta, pérdidas de cotizaciones y falta de seguimiento digital en un mercado en rápida expansión.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Contexto y Diagnóstico</a:t>
            </a:r>
            <a:endParaRPr/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-19766" l="-2585" r="-22290" t="-6052"/>
          <a:stretch/>
        </p:blipFill>
        <p:spPr>
          <a:xfrm>
            <a:off x="6098275" y="1882025"/>
            <a:ext cx="6502899" cy="40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4487" y="2386012"/>
            <a:ext cx="1343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2165508" y="2719387"/>
            <a:ext cx="7860982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Visión General del Proyecto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715000" y="3862387"/>
            <a:ext cx="762000" cy="4762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314450" y="4100512"/>
            <a:ext cx="9563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Integración de comercio electrónico con recomendación inteligente mediante Inteligencia Artificial para acelerar el ciclo de ventas.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8912"/>
            <a:ext cx="5334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28912"/>
            <a:ext cx="5334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914400" y="3538537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E-Commerce &amp; Cotizador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914400" y="3967162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Plataforma web con catálogo interactivo y cotización inmediata en tiempo real según requerimientos del cliente.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6629400" y="3538537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Automatización con IA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629400" y="3967162"/>
            <a:ext cx="4648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Modelo KNN para recomendación de kits solares, bot conversacional 24/7 y agendamiento automático.</a:t>
            </a:r>
            <a:endParaRPr/>
          </a:p>
        </p:txBody>
      </p:sp>
      <p:pic>
        <p:nvPicPr>
          <p:cNvPr descr="image.png" id="126" name="Google Shape;12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10991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1099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Objetivos Principales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25908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2205037"/>
            <a:ext cx="25908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2205037"/>
            <a:ext cx="25908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9700" y="2205037"/>
            <a:ext cx="25908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481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847725" y="3205162"/>
            <a:ext cx="21402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David Valenzuela</a:t>
            </a:r>
            <a:endParaRPr/>
          </a:p>
        </p:txBody>
      </p:sp>
      <p:pic>
        <p:nvPicPr>
          <p:cNvPr descr="image.png" id="140" name="Google Shape;14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3633787"/>
            <a:ext cx="8382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847725" y="3967162"/>
            <a:ext cx="2038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Modelo KNN, Scikit-learn, Pandas y entrenamiento del motor recomendador.</a:t>
            </a:r>
            <a:endParaRPr/>
          </a:p>
        </p:txBody>
      </p:sp>
      <p:pic>
        <p:nvPicPr>
          <p:cNvPr descr="image.png" id="142" name="Google Shape;14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7125" y="2481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3667125" y="3205162"/>
            <a:ext cx="13401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Kevin Peña</a:t>
            </a:r>
            <a:endParaRPr/>
          </a:p>
        </p:txBody>
      </p:sp>
      <p:pic>
        <p:nvPicPr>
          <p:cNvPr descr="image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3624262"/>
            <a:ext cx="11239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3667125" y="3967162"/>
            <a:ext cx="2038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Liderazgo de proyecto, diseño UX/UI en Figma e interfaz interactiva React.</a:t>
            </a:r>
            <a:endParaRPr/>
          </a:p>
        </p:txBody>
      </p:sp>
      <p:pic>
        <p:nvPicPr>
          <p:cNvPr descr="image.png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2481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6486525" y="3205162"/>
            <a:ext cx="17302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Fiorella Osorio</a:t>
            </a:r>
            <a:endParaRPr/>
          </a:p>
        </p:txBody>
      </p:sp>
      <p:pic>
        <p:nvPicPr>
          <p:cNvPr descr="image.png" id="148" name="Google Shape;14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67125" y="3624262"/>
            <a:ext cx="8382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486525" y="3967162"/>
            <a:ext cx="2038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Gestión de calidad, pruebas del sistema e integridad de datos.</a:t>
            </a:r>
            <a:endParaRPr/>
          </a:p>
        </p:txBody>
      </p:sp>
      <p:pic>
        <p:nvPicPr>
          <p:cNvPr descr="image.png" id="150" name="Google Shape;15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05925" y="2481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9305925" y="3205162"/>
            <a:ext cx="214026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E04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Cristopher Figueroa</a:t>
            </a:r>
            <a:endParaRPr/>
          </a:p>
        </p:txBody>
      </p:sp>
      <p:pic>
        <p:nvPicPr>
          <p:cNvPr descr="image.png" id="152" name="Google Shape;15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05925" y="3967162"/>
            <a:ext cx="12668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9305925" y="4300537"/>
            <a:ext cx="2038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Arquitectura API Node.js, Python, MySQL y orquestación ágil.</a:t>
            </a:r>
            <a:endParaRPr/>
          </a:p>
        </p:txBody>
      </p:sp>
      <p:pic>
        <p:nvPicPr>
          <p:cNvPr descr="image.png" id="154" name="Google Shape;15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2025" y="25955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38562" y="259556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0825" y="25955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420225" y="25955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Roles del Equipo Anglo Electric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Solución Solar Inteligente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571500" y="12858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• Cotizador Interactivo:</a:t>
            </a: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Cálculo automático de dimensiones e inversión fotovoltaica.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571500" y="191452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• Motor Recomendador KNN:</a:t>
            </a: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Selección del kit de paneles según perfil de consumo energético.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571500" y="25431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CC15"/>
                </a:solidFill>
                <a:latin typeface="Lato"/>
                <a:ea typeface="Lato"/>
                <a:cs typeface="Lato"/>
                <a:sym typeface="Lato"/>
              </a:rPr>
              <a:t>• Agenda Electrónica:</a:t>
            </a: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Sincronización automática de visitas técnicas sin intervención manual.</a:t>
            </a:r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625" y="73275"/>
            <a:ext cx="5780376" cy="678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9562"/>
            <a:ext cx="254124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176462"/>
            <a:ext cx="254124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119562"/>
            <a:ext cx="254124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176462"/>
            <a:ext cx="254124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571500" y="3814762"/>
            <a:ext cx="11049000" cy="38100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717995" y="4319587"/>
            <a:ext cx="2248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Hito 1 — Sem 3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771525" y="4662487"/>
            <a:ext cx="21411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Requisitos validados y Prototipos UI/UX en Figma.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3553915" y="2376487"/>
            <a:ext cx="2248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Hito 2 — Sem 8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3607444" y="2719387"/>
            <a:ext cx="21411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Arquitectura Backend y Base de Datos MySQL.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6389835" y="4319587"/>
            <a:ext cx="2248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Hito 3 — Sem 15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6443364" y="4662487"/>
            <a:ext cx="21411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Integración Frontend e Inteligencia Artificial (KNN).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9225755" y="2376487"/>
            <a:ext cx="22482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ACC1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Hito 4 — Sem 18</a:t>
            </a:r>
            <a:endParaRPr/>
          </a:p>
        </p:txBody>
      </p:sp>
      <p:sp>
        <p:nvSpPr>
          <p:cNvPr id="186" name="Google Shape;186;p7"/>
          <p:cNvSpPr txBox="1"/>
          <p:nvPr/>
        </p:nvSpPr>
        <p:spPr>
          <a:xfrm>
            <a:off x="9279284" y="2719387"/>
            <a:ext cx="21411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Despliegue AWS, Dashboard Analítico y QA Final.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Hitos del Proyecto (18 Semanas)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746870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E36"/>
          </a:solidFill>
          <a:ln cap="flat" cmpd="sng" w="381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82790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E36"/>
          </a:solidFill>
          <a:ln cap="flat" cmpd="sng" w="381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418709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E36"/>
          </a:solidFill>
          <a:ln cap="flat" cmpd="sng" w="381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0254629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E36"/>
          </a:solidFill>
          <a:ln cap="flat" cmpd="sng" w="381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1000125" y="28813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Sprint 0 (Sem 1-3):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Requisitos y prototipado UI/UX.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1000125" y="33575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Sprint 1 (Sem 4-8):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Backend, API RESTful y BDD MySQL.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1000125" y="38338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Sprint 2-3 (Sem 9-15):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Frontend React, IA KNN y Bot.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1000125" y="43100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Sprint 4 (Sem 16-18):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Cloud AWS y Métricas de ventas.</a:t>
            </a:r>
            <a:endParaRPr/>
          </a:p>
        </p:txBody>
      </p:sp>
      <p:pic>
        <p:nvPicPr>
          <p:cNvPr descr="image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0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70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43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19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Avance por Sprints</a:t>
            </a:r>
            <a:endParaRPr/>
          </a:p>
        </p:txBody>
      </p:sp>
      <p:pic>
        <p:nvPicPr>
          <p:cNvPr id="206" name="Google Shape;20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6100" y="1982775"/>
            <a:ext cx="5716501" cy="39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 txBox="1"/>
          <p:nvPr/>
        </p:nvSpPr>
        <p:spPr>
          <a:xfrm>
            <a:off x="1000125" y="28813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Catálogo y Carrito: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Cotización en línea con valores actualizados e inmediatos.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1000125" y="33575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Bot IA + Modelo KNN: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Recomendación óptima de kits según hábitos de consumo.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1000125" y="383381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Integración Omnicanal: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Conexión con WhatsApp y redes sociales empresariales.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1000125" y="4310062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Dashboard Analítico:</a:t>
            </a:r>
            <a:r>
              <a:rPr b="0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 Visibilidad de ventas, márgenes e indicadores clave en tiempo real.</a:t>
            </a:r>
            <a:endParaRPr/>
          </a:p>
        </p:txBody>
      </p:sp>
      <p:pic>
        <p:nvPicPr>
          <p:cNvPr descr="image.png" id="216" name="Google Shape;2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08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67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8100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19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Módulos del Sistema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10"/>
          <p:cNvGraphicFramePr/>
          <p:nvPr/>
        </p:nvGraphicFramePr>
        <p:xfrm>
          <a:off x="571500" y="2405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{4347169C-F2D4-4352-83B9-65E577428861}</a:tableStyleId>
              </a:tblPr>
              <a:tblGrid>
                <a:gridCol w="4136225"/>
                <a:gridCol w="1371000"/>
                <a:gridCol w="554177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ACC1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Riesgo Detectado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ACC1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Impacto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ACC1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Estrategia de Mitigación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Falta de datos históricos reales para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Generación de dataset sintético de consumo fotovoltaico.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Integración de bot/agenda con WhatsApp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59E0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Uso de APIs estándar documentadas y Webhooks.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Desviación de plazos en sprints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Scrum estricto con Definition of Done riguroso.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Dependencias tecnológicas externas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60A5F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Bajo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Stack de herramientas Open-Source y AWS Free Tier.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33D"/>
                    </a:solidFill>
                  </a:tcPr>
                </a:tc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571500" y="2962275"/>
            <a:ext cx="4136231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707731" y="2962275"/>
            <a:ext cx="137100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078735" y="2962275"/>
            <a:ext cx="554176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71500" y="3533775"/>
            <a:ext cx="4136231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707731" y="3533775"/>
            <a:ext cx="137100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078735" y="3533775"/>
            <a:ext cx="554176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71500" y="4105275"/>
            <a:ext cx="4136231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707731" y="4105275"/>
            <a:ext cx="137100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078735" y="4105275"/>
            <a:ext cx="554176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71500" y="4676775"/>
            <a:ext cx="4136231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707731" y="4676775"/>
            <a:ext cx="137100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078735" y="4676775"/>
            <a:ext cx="554176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71500" y="5248275"/>
            <a:ext cx="4136231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707731" y="5248275"/>
            <a:ext cx="137100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078735" y="5248275"/>
            <a:ext cx="5541764" cy="9525"/>
          </a:xfrm>
          <a:prstGeom prst="rect">
            <a:avLst/>
          </a:prstGeom>
          <a:solidFill>
            <a:srgbClr val="254B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Riesgos y Mitigaciones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0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 txBox="1"/>
          <p:nvPr/>
        </p:nvSpPr>
        <p:spPr>
          <a:xfrm>
            <a:off x="295200" y="1598725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571500" y="3271838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EF9C3"/>
                </a:solidFill>
                <a:latin typeface="Lato"/>
                <a:ea typeface="Lato"/>
                <a:cs typeface="Lato"/>
                <a:sym typeface="Lato"/>
              </a:rPr>
              <a:t>Muchas gracias por su atención.</a:t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571500" y="42791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DE047"/>
                </a:solidFill>
                <a:latin typeface="Lato"/>
                <a:ea typeface="Lato"/>
                <a:cs typeface="Lato"/>
                <a:sym typeface="Lato"/>
              </a:rPr>
              <a:t>Proyecto Anglo Electric — Servicio Elctrico Christopher Pastén E.I.R.L.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